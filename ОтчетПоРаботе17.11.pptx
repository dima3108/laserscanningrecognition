
<file path=[Content_Types].xml><?xml version="1.0" encoding="utf-8"?>
<Types xmlns="http://schemas.openxmlformats.org/package/2006/content-types">
  <Default Extension="jpeg" ContentType="image/jpeg"/>
  <Default Extension="JPG" ContentType="image/.jp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3"/>
    <p:sldId id="257" r:id="rId4"/>
    <p:sldId id="258" r:id="rId5"/>
    <p:sldId id="259" r:id="rId6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/>
          </p:cNvPicPr>
          <p:nvPr/>
        </p:nvPicPr>
        <p:blipFill>
          <a:blip r:embed="rId2"/>
          <a:srcRect b="3795"/>
          <a:stretch>
            <a:fillRect/>
          </a:stretch>
        </p:blipFill>
        <p:spPr>
          <a:xfrm>
            <a:off x="0" y="260350"/>
            <a:ext cx="12192000" cy="659765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24417" y="620713"/>
            <a:ext cx="10943167" cy="10826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altLang="zh-CN" noProof="0" smtClean="0"/>
              <a:t>Click to edit Master title style</a:t>
            </a:r>
            <a:endParaRPr lang="en-US" altLang="zh-CN" noProof="0" smtClean="0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26533" y="1843088"/>
            <a:ext cx="10949517" cy="981075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 altLang="zh-CN" noProof="0" smtClean="0"/>
              <a:t>Click to edit Master subtitle style</a:t>
            </a:r>
            <a:endParaRPr lang="en-US" altLang="zh-CN" noProof="0" smtClean="0"/>
          </a:p>
        </p:txBody>
      </p:sp>
      <p:sp>
        <p:nvSpPr>
          <p:cNvPr id="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1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/>
            </a:lvl1pPr>
          </a:lstStyle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Замещающая дата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Замещающий 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3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Замещающая дата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Замещающий 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174750"/>
            <a:ext cx="5384800" cy="49530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Замещающая дата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Замещающий 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0317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0317" y="2505075"/>
            <a:ext cx="5158316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Замещающая дата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Замещающий 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9" name="Замещающий 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Замещающая дата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Замещающий 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ая дата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Замещающий 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717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Замещающая дата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Замещающий 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C4527FD-C22F-4528-B2BB-24ACAEFD76BE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317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717" y="987425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sz="32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0317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Замещающая дата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Замещающий 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 dirty="0"/>
          </a:p>
        </p:txBody>
      </p:sp>
      <p:sp>
        <p:nvSpPr>
          <p:cNvPr id="7" name="Замещающий 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Замещающая дата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5" name="Замещающий 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9C4527FD-C22F-4528-B2BB-24ACAEFD76BE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SimSun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SimSun" panose="02010600030101010101" pitchFamily="2" charset="-122"/>
              <a:cs typeface="+mn-cs"/>
            </a:endParaRPr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190500"/>
            <a:ext cx="2743200" cy="593725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90500"/>
            <a:ext cx="8026400" cy="59372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Замещающая дата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Замещающий 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6" name="Замещающий 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2.jpe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026" name="Picture 2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7" name="Rectangle 3"/>
          <p:cNvSpPr>
            <a:spLocks noGrp="1"/>
          </p:cNvSpPr>
          <p:nvPr>
            <p:ph type="title"/>
          </p:nvPr>
        </p:nvSpPr>
        <p:spPr>
          <a:xfrm>
            <a:off x="609600" y="190500"/>
            <a:ext cx="10972800" cy="582613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p>
            <a:pPr lvl="0"/>
            <a:r>
              <a:rPr lang="en-US" altLang="zh-CN" dirty="0"/>
              <a:t>Click to edit Master title style</a:t>
            </a:r>
            <a:endParaRPr lang="en-US" altLang="zh-CN" dirty="0"/>
          </a:p>
        </p:txBody>
      </p:sp>
      <p:sp>
        <p:nvSpPr>
          <p:cNvPr id="1028" name="Rectangle 4"/>
          <p:cNvSpPr>
            <a:spLocks noGrp="1"/>
          </p:cNvSpPr>
          <p:nvPr>
            <p:ph type="body" idx="1"/>
          </p:nvPr>
        </p:nvSpPr>
        <p:spPr>
          <a:xfrm>
            <a:off x="609600" y="1174750"/>
            <a:ext cx="10972800" cy="4953000"/>
          </a:xfrm>
          <a:prstGeom prst="rect">
            <a:avLst/>
          </a:prstGeom>
          <a:noFill/>
          <a:ln w="9525">
            <a:noFill/>
          </a:ln>
        </p:spPr>
        <p:txBody>
          <a:bodyPr/>
          <a:p>
            <a:pPr lvl="0"/>
            <a:r>
              <a:rPr lang="en-US" altLang="zh-CN" dirty="0"/>
              <a:t>Click to edit Master text styles</a:t>
            </a:r>
            <a:endParaRPr lang="en-US" altLang="zh-CN" dirty="0"/>
          </a:p>
          <a:p>
            <a:pPr lvl="1"/>
            <a:r>
              <a:rPr lang="en-US" altLang="zh-CN" dirty="0"/>
              <a:t>Second level</a:t>
            </a:r>
            <a:endParaRPr lang="en-US" altLang="zh-CN" dirty="0"/>
          </a:p>
          <a:p>
            <a:pPr lvl="2"/>
            <a:r>
              <a:rPr lang="en-US" altLang="zh-CN" dirty="0"/>
              <a:t>Third level</a:t>
            </a:r>
            <a:endParaRPr lang="en-US" altLang="zh-CN" dirty="0"/>
          </a:p>
          <a:p>
            <a:pPr lvl="3"/>
            <a:r>
              <a:rPr lang="en-US" altLang="zh-CN" dirty="0"/>
              <a:t>Fourth level</a:t>
            </a:r>
            <a:endParaRPr lang="en-US" altLang="zh-CN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>
              <a:defRPr sz="1400"/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ctr">
              <a:defRPr sz="1400"/>
            </a:lvl1pPr>
          </a:lstStyle>
          <a:p>
            <a:endParaRPr lang="en-US"/>
          </a:p>
        </p:txBody>
      </p:sp>
      <p:sp>
        <p:nvSpPr>
          <p:cNvPr id="103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>
              <a:defRPr sz="1400"/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rtl="0" fontAlgn="base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2pPr>
      <a:lvl3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3pPr>
      <a:lvl4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4pPr>
      <a:lvl5pPr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Arial" panose="020B0604020202020204" pitchFamily="34" charset="0"/>
          <a:ea typeface="SimSun" panose="02010600030101010101" pitchFamily="2" charset="-122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ru-RU" altLang="en-US"/>
              <a:t>Отчет по выполненной работе 123 команды</a:t>
            </a:r>
            <a:endParaRPr lang="ru-RU" alt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p>
            <a:pPr algn="ctr"/>
            <a:r>
              <a:rPr lang="ru-RU" altLang="en-US"/>
              <a:t>Распознование точек на основе алгоритма трассировки пути</a:t>
            </a:r>
            <a:endParaRPr lang="ru-RU" altLang="en-US"/>
          </a:p>
        </p:txBody>
      </p:sp>
      <p:pic>
        <p:nvPicPr>
          <p:cNvPr id="4" name="Изображение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0100" y="3616960"/>
            <a:ext cx="7410450" cy="1771650"/>
          </a:xfrm>
          <a:prstGeom prst="rect">
            <a:avLst/>
          </a:prstGeom>
        </p:spPr>
      </p:pic>
      <p:sp>
        <p:nvSpPr>
          <p:cNvPr id="5" name="Текстовое поле 4"/>
          <p:cNvSpPr txBox="1"/>
          <p:nvPr/>
        </p:nvSpPr>
        <p:spPr>
          <a:xfrm>
            <a:off x="4222115" y="6094095"/>
            <a:ext cx="28714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/>
              <a:t>Краснодар 2025</a:t>
            </a:r>
            <a:endParaRPr lang="ru-RU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/>
              <a:t>Результаты работы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В ходе проведения нагрузучного тестирования, были получены следующие результаты:</a:t>
            </a:r>
            <a:endParaRPr lang="ru-RU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1. Обучение файла с </a:t>
            </a:r>
            <a:r>
              <a:rPr lang="en-US" altLang="ru-RU" b="1" i="1">
                <a:latin typeface="Times New Roman" panose="02020603050405020304" charset="0"/>
                <a:cs typeface="Times New Roman" panose="02020603050405020304" charset="0"/>
              </a:rPr>
              <a:t>50000</a:t>
            </a:r>
            <a:r>
              <a:rPr lang="ru-RU" altLang="en-US" b="1" i="1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строк обучающих примеров заняло </a:t>
            </a:r>
            <a:r>
              <a:rPr lang="ru-RU" altLang="en-US" b="1" i="1">
                <a:latin typeface="Times New Roman" panose="02020603050405020304" charset="0"/>
                <a:cs typeface="Times New Roman" panose="02020603050405020304" charset="0"/>
              </a:rPr>
              <a:t> 12 часов 50 минут </a:t>
            </a: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при </a:t>
            </a:r>
            <a:r>
              <a:rPr lang="en-US" altLang="ru-RU" b="1" i="1">
                <a:latin typeface="Times New Roman" panose="02020603050405020304" charset="0"/>
                <a:cs typeface="Times New Roman" panose="02020603050405020304" charset="0"/>
              </a:rPr>
              <a:t>8</a:t>
            </a:r>
            <a:r>
              <a:rPr lang="ru-RU" altLang="en-US" b="1" i="1">
                <a:latin typeface="Times New Roman" panose="02020603050405020304" charset="0"/>
                <a:cs typeface="Times New Roman" panose="02020603050405020304" charset="0"/>
              </a:rPr>
              <a:t>00</a:t>
            </a: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 эпохах обучения, что примерно соотвествует средней скорости обучения 1 эпохи , равной </a:t>
            </a:r>
            <a:r>
              <a:rPr lang="en-US" altLang="ru-RU" b="1" i="1">
                <a:latin typeface="Times New Roman" panose="02020603050405020304" charset="0"/>
                <a:cs typeface="Times New Roman" panose="02020603050405020304" charset="0"/>
              </a:rPr>
              <a:t>57.75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секунд.</a:t>
            </a:r>
            <a:endParaRPr lang="ru-RU" altLang="en-US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2.Обучение файла из </a:t>
            </a:r>
            <a:r>
              <a:rPr lang="ru-RU" altLang="en-US" b="1" i="1">
                <a:latin typeface="Times New Roman" panose="02020603050405020304" charset="0"/>
                <a:cs typeface="Times New Roman" panose="02020603050405020304" charset="0"/>
              </a:rPr>
              <a:t>5222</a:t>
            </a: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 строк обуч. примеров заняло </a:t>
            </a:r>
            <a:r>
              <a:rPr lang="ru-RU" altLang="en-US" b="1" i="1">
                <a:latin typeface="Times New Roman" panose="02020603050405020304" charset="0"/>
                <a:cs typeface="Times New Roman" panose="02020603050405020304" charset="0"/>
              </a:rPr>
              <a:t>1 час 50 минут</a:t>
            </a: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, при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8</a:t>
            </a:r>
            <a:r>
              <a:rPr lang="en-US" altLang="ru-RU">
                <a:latin typeface="Times New Roman" panose="02020603050405020304" charset="0"/>
                <a:cs typeface="Times New Roman" panose="02020603050405020304" charset="0"/>
              </a:rPr>
              <a:t>00</a:t>
            </a: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 эпохах средняя скорость обучения 1 эпохи примерно </a:t>
            </a:r>
            <a:r>
              <a:rPr lang="ru-RU" altLang="en-US" b="1" i="1">
                <a:latin typeface="Times New Roman" panose="02020603050405020304" charset="0"/>
                <a:cs typeface="Times New Roman" panose="02020603050405020304" charset="0"/>
              </a:rPr>
              <a:t>8.25</a:t>
            </a:r>
            <a:r>
              <a:rPr lang="ru-RU" altLang="en-US">
                <a:latin typeface="Times New Roman" panose="02020603050405020304" charset="0"/>
                <a:cs typeface="Times New Roman" panose="02020603050405020304" charset="0"/>
              </a:rPr>
              <a:t> секунд.</a:t>
            </a:r>
            <a:endParaRPr lang="ru-RU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/>
              <a:t>Результаты работы</a:t>
            </a:r>
            <a:endParaRPr lang="ru-RU" altLang="en-US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ru-RU" altLang="en-US"/>
              <a:t>Исходя из итогов нагрузучного тестирования, был сделан вывод что необходимость в упрощение модели входных данных отсутсвует и можжно переходиить к использованию выбранной модели входных данных для тестирования реальных обучающих примеров.</a:t>
            </a:r>
            <a:endParaRPr lang="ru-RU" altLang="en-US"/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Замещающее содержимое 3" descr="СилуэтыNiagara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61035" y="582930"/>
            <a:ext cx="9668510" cy="4953000"/>
          </a:xfrm>
          <a:prstGeom prst="rect">
            <a:avLst/>
          </a:prstGeom>
        </p:spPr>
      </p:pic>
      <p:sp>
        <p:nvSpPr>
          <p:cNvPr id="5" name="Замещающий 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range Waves">
  <a:themeElements>
    <a:clrScheme name="Orange Waves 13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C73109"/>
      </a:accent1>
      <a:accent2>
        <a:srgbClr val="FF5050"/>
      </a:accent2>
      <a:accent3>
        <a:srgbClr val="FFFFFF"/>
      </a:accent3>
      <a:accent4>
        <a:srgbClr val="000000"/>
      </a:accent4>
      <a:accent5>
        <a:srgbClr val="E0ADAA"/>
      </a:accent5>
      <a:accent6>
        <a:srgbClr val="E74848"/>
      </a:accent6>
      <a:hlink>
        <a:srgbClr val="4D4D4D"/>
      </a:hlink>
      <a:folHlink>
        <a:srgbClr val="777777"/>
      </a:folHlink>
    </a:clrScheme>
    <a:fontScheme name="Orange Waves">
      <a:majorFont>
        <a:latin typeface="Arial"/>
        <a:ea typeface="SimSun"/>
        <a:cs typeface=""/>
      </a:majorFont>
      <a:minorFont>
        <a:latin typeface="Arial"/>
        <a:ea typeface="SimSu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accent2"/>
            </a:gs>
          </a:gsLst>
          <a:lin ang="5400000" scaled="1"/>
        </a:gradFill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SimSun" panose="02010600030101010101" pitchFamily="2" charset="-122"/>
          </a:defRPr>
        </a:defPPr>
      </a:lstStyle>
    </a:lnDef>
  </a:objectDefaults>
  <a:extraClrSchemeLst>
    <a:extraClrScheme>
      <a:clrScheme name="Orange Wave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range Waves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range Waves 13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C73109"/>
        </a:accent1>
        <a:accent2>
          <a:srgbClr val="FF5050"/>
        </a:accent2>
        <a:accent3>
          <a:srgbClr val="FFFFFF"/>
        </a:accent3>
        <a:accent4>
          <a:srgbClr val="000000"/>
        </a:accent4>
        <a:accent5>
          <a:srgbClr val="E0ADAA"/>
        </a:accent5>
        <a:accent6>
          <a:srgbClr val="E74848"/>
        </a:accent6>
        <a:hlink>
          <a:srgbClr val="4D4D4D"/>
        </a:hlink>
        <a:folHlink>
          <a:srgbClr val="77777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787</Words>
  <Application>WPS Presentation</Application>
  <PresentationFormat>宽屏</PresentationFormat>
  <Paragraphs>22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Arial</vt:lpstr>
      <vt:lpstr>SimSun</vt:lpstr>
      <vt:lpstr>Wingdings</vt:lpstr>
      <vt:lpstr>Times New Roman</vt:lpstr>
      <vt:lpstr>Microsoft YaHei</vt:lpstr>
      <vt:lpstr>Arial Unicode MS</vt:lpstr>
      <vt:lpstr>Orange Waves</vt:lpstr>
      <vt:lpstr>Отчет по выполненной работе 123 команды</vt:lpstr>
      <vt:lpstr>Результаты работы</vt:lpstr>
      <vt:lpstr>Результаты работы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Дмитрий</cp:lastModifiedBy>
  <cp:revision>9</cp:revision>
  <dcterms:created xsi:type="dcterms:W3CDTF">2025-07-23T00:59:00Z</dcterms:created>
  <dcterms:modified xsi:type="dcterms:W3CDTF">2025-11-17T12:45:07Z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1049-12.2.0.23155</vt:lpwstr>
  </property>
  <property fmtid="{D5CDD505-2E9C-101B-9397-08002B2CF9AE}" pid="3" name="ICV">
    <vt:lpwstr>E9570D2E314C4FE9B5D2497FAA2293AB_13</vt:lpwstr>
  </property>
</Properties>
</file>